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3" r:id="rId15"/>
    <p:sldId id="264" r:id="rId16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 — INTRO]</a:t>
            </a:r>
          </a:p>
          <a:p/>
          <a:p>
            <a:r>
              <a:t>Bonjour, je vous présente le projet Bloc 2 Steam, un cas de Big Data EDA distribuée.</a:t>
            </a:r>
          </a:p>
          <a:p/>
          <a:p>
            <a:r>
              <a:t>Steam, c'est la plateforme de Valve, plus de 50 000 jeux dans le catalogue. Leur équipe data veut une analyse macro du marché : qui sont les éditeurs dominants, quels genres marchent, quelles plateformes cartonnent.</a:t>
            </a:r>
          </a:p>
          <a:p/>
          <a:p>
            <a:r>
              <a:t>Le défi technique : le dataset est un JSON nested volumineux sur S3, donc on travaille en PySpark sur Databricks. C'est exactement le cas d'usage Big Data du Bloc 2.</a:t>
            </a:r>
          </a:p>
          <a:p/>
          <a:p>
            <a:r>
              <a:t>3 axes : analyse macro, performance par genre, et plateformes Windows / Mac / Linux. Je vais vous montrer l'archi Spark, les chiffres clés, et les insights métier.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 — ARCHITECTURE]</a:t>
            </a:r>
          </a:p>
          <a:p/>
          <a:p>
            <a:r>
              <a:t>Voici l'architecture du pipeline Spark.</a:t>
            </a:r>
          </a:p>
          <a:p/>
          <a:p>
            <a:r>
              <a:t>On lit le JSON nested directement depuis S3 avec spark.read.json. Le schéma a des champs imbriqués sous data.* avec des variantes selon les jeux — j'ai un helper has_path qui gère les colonnes potentiellement absentes.</a:t>
            </a:r>
          </a:p>
          <a:p/>
          <a:p>
            <a:r>
              <a:t>Ensuite la phase cleaning et feature engineering. Je convertis les strings en numérique avec to_double_from_any qui gère les virgules décimales européennes. Je calcule positive_rate, n_reviews, et un popularity_score = log(1 + n_reviews) × positive_rate — la log atténue les écarts entre les blockbusters et les jeux moyens.</a:t>
            </a:r>
          </a:p>
          <a:p/>
          <a:p>
            <a:r>
              <a:t>Pour les genres et les langues, j'explode() pour avoir une ligne par couple jeu × genre. C'est le pattern Spark classique pour passer d'un format wide à long.</a:t>
            </a:r>
          </a:p>
          <a:p/>
          <a:p>
            <a:r>
              <a:t>Enfin, j'écris 10 tables d'agrégation que je consomme via display() dans le dashboard Databricks.</a:t>
            </a:r>
          </a:p>
          <a:p/>
          <a:p>
            <a:r>
              <a:t>Pourquoi Spark plutôt que pandas ? Parce que le JSON est nested et volumineux, et le parallélisme sur les explode est natif en Spark.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 — CHIFFRES]</a:t>
            </a:r>
          </a:p>
          <a:p/>
          <a:p>
            <a:r>
              <a:t>Côté volume, plus de 50 000 jeux Steam dans le JSON. J'ai produit 10 tables d'agrégation pour couvrir les 3 axes d'analyse.</a:t>
            </a:r>
          </a:p>
          <a:p/>
          <a:p>
            <a:r>
              <a:t>Quelques tables importantes : publisher_most_games qui me donne le classement des éditeurs par nombre de jeux. releases_by_year qui montre l'évolution du marché — typiquement un boom à partir de 2014 avec l'arrivée massive des indés. genre_performance qui filtre sur au moins 200 jeux par genre pour éviter les genres marginaux.</a:t>
            </a:r>
          </a:p>
          <a:p/>
          <a:p>
            <a:r>
              <a:t>Sur best_games, j'ai mis un filtre n_reviews ≥ 500 pour éviter qu'un jeu obscur avec 3 reviews positives sorte en tête du classement. C'est typiquement le piège qu'on évite avec un seuil minimum.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 min 30 — INSIGHTS]</a:t>
            </a:r>
          </a:p>
          <a:p/>
          <a:p>
            <a:r>
              <a:t>Voici les principaux résultats par axe d'analyse.</a:t>
            </a:r>
          </a:p>
          <a:p/>
          <a:p>
            <a:r>
              <a:t>Côté macro : les éditeurs suivent une longue traîne — quelques gros (Ubisoft, Square Enix, EA) puis énormément de petits studios. Sur les sorties par année, on voit nettement l'explosion du marché à partir de 2014, c'est l'arrivée massive des indés.</a:t>
            </a:r>
          </a:p>
          <a:p/>
          <a:p>
            <a:r>
              <a:t>Côté genres : Action, Indie, Adventure, Casual dominent. Les discounts sont très fréquents — c'est cohérent avec le modèle économique des Steam Sales.</a:t>
            </a:r>
          </a:p>
          <a:p/>
          <a:p>
            <a:r>
              <a:t>Côté plateformes — c'est l'insight le plus intéressant : Windows écrase tout (plus de 95% des jeux), Mac et Linux sont minoritaires. Mais quand on croise avec la popularité, on observe que les jeux multi-plateformes ont en moyenne plus de reviews. Mon hypothèse : les éditeurs qui investissent dans le portage sur Mac et Linux sont aussi ceux qui font du jeu de qualité. Corrélation, pas causalité.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 — STACK]</a:t>
            </a:r>
          </a:p>
          <a:p/>
          <a:p>
            <a:r>
              <a:t>Pour la stack, j'ai 2 notebooks PySpark et un dashboard Databricks importable depuis le ZIP que je livre.</a:t>
            </a:r>
          </a:p>
          <a:p/>
          <a:p>
            <a:r>
              <a:t>Le notebook 1 fait tout le pipeline : cleaning, feature engineering, agrégations. Le notebook 2 enrichit avec des analyses statistiques.</a:t>
            </a:r>
          </a:p>
          <a:p/>
          <a:p>
            <a:r>
              <a:t>Côté limites : je tourne sur Databricks community, donc cluster gratuit avec ressources limitées. Le schéma JSON varie selon les jeux — d'où le helper has_path qui gère les chemins absents. Pas de scheduling, c'est un POC sur un snapshot.</a:t>
            </a:r>
          </a:p>
          <a:p/>
          <a:p>
            <a:r>
              <a:t>En revanche, l'architecture est facilement extensible : si Steam veut analyser Epic Games Store ou GOG en parallèle, le pipeline marche tel quel à condition que le format JSON soit similaire.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 — CONCLUSION]</a:t>
            </a:r>
          </a:p>
          <a:p/>
          <a:p>
            <a:r>
              <a:t>Pour conclure le Bloc 2 Steam.</a:t>
            </a:r>
          </a:p>
          <a:p/>
          <a:p>
            <a:r>
              <a:t>Acquis : j'ai manipulé du JSON nested en PySpark, géré la tolérance au schéma variable, fait du feature engineering distribué, et produit 10 tables d'agrégation. Le tout présenté via le dashboard Databricks.</a:t>
            </a:r>
          </a:p>
          <a:p/>
          <a:p>
            <a:r>
              <a:t>Pour aller en prod chez Steam : cluster managé, Delta Lake pour l'historisation et la transactionnalité, scheduling via Databricks Jobs, et des tests unitaires sur les UDF de cleaning.</a:t>
            </a:r>
          </a:p>
          <a:p/>
          <a:p>
            <a:r>
              <a:t>Merci, je suis prêt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ymericlahonde-dotcom/cdsd-b2-stea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365760" cy="36576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2E"/>
                </a:solidFill>
              </a:defRPr>
            </a:pPr>
            <a:r>
              <a:t>Steam — Macro analysis du gaming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5C5C75"/>
                </a:solidFill>
              </a:defRPr>
            </a:pPr>
            <a:r>
              <a:t>Bloc 2 — Big Data EDA distribuée (PySpark / Databricks)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106984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2000" b="1">
                <a:solidFill>
                  <a:srgbClr val="76B900"/>
                </a:solidFill>
              </a:defRPr>
            </a:pPr>
            <a:r>
              <a:t>Ce qu'attend l'équipe data Steam</a:t>
            </a:r>
          </a:p>
          <a:p>
            <a:pPr>
              <a:spcBef>
                <a:spcPts val="400"/>
              </a:spcBef>
              <a:defRPr sz="1500">
                <a:solidFill>
                  <a:srgbClr val="1A1A2E"/>
                </a:solidFill>
              </a:defRPr>
            </a:pPr>
            <a:r>
              <a:t>•  Analyse macro du marché jeu vidéo : éditeurs, genres, plateformes, sorties</a:t>
            </a:r>
          </a:p>
          <a:p>
            <a:pPr>
              <a:spcBef>
                <a:spcPts val="400"/>
              </a:spcBef>
              <a:defRPr sz="1500">
                <a:solidFill>
                  <a:srgbClr val="1A1A2E"/>
                </a:solidFill>
              </a:defRPr>
            </a:pPr>
            <a:r>
              <a:t>•  Dataset JSON nested volumineux → environnement Spark obligatoire</a:t>
            </a:r>
          </a:p>
          <a:p>
            <a:pPr>
              <a:spcBef>
                <a:spcPts val="400"/>
              </a:spcBef>
              <a:defRPr sz="1500">
                <a:solidFill>
                  <a:srgbClr val="1A1A2E"/>
                </a:solidFill>
              </a:defRPr>
            </a:pPr>
            <a:r>
              <a:t>•  3 axes : macro / genres / plateformes Windows-Mac-Linux</a:t>
            </a:r>
          </a:p>
          <a:p>
            <a:pPr>
              <a:spcBef>
                <a:spcPts val="400"/>
              </a:spcBef>
              <a:defRPr sz="1500">
                <a:solidFill>
                  <a:srgbClr val="1A1A2E"/>
                </a:solidFill>
              </a:defRPr>
            </a:pPr>
            <a:r>
              <a:t>•  Livrer un dashboard Databricks + insights actionnables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5C75"/>
                </a:solidFill>
              </a:defRPr>
            </a:pPr>
            <a:r>
              <a:t>Aymeric Lahonde — CDSD Jedha 2026 — RNCP35288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75"/>
                </a:solidFill>
              </a:defRPr>
            </a:pPr>
            <a:r>
              <a:t>Aymeric Lahonde — CDSD Jedha 2026 — RNCP35288  ·  Bloc 2 Steam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B900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Architecture Spark distribuée</a:t>
            </a:r>
          </a:p>
          <a:p>
            <a:pPr>
              <a:defRPr sz="1300">
                <a:solidFill>
                  <a:srgbClr val="76B900"/>
                </a:solidFill>
              </a:defRPr>
            </a:pPr>
            <a:r>
              <a:t>JSON nested S3 → PySpark → tables d'agrégation → Databricks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2172614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S3 raw</a:t>
            </a:r>
            <a:br/>
            <a:r>
              <a:t>JSON nested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steam_game</a:t>
            </a:r>
            <a:br/>
            <a:r>
              <a:t>_output.json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12654" y="1874520"/>
            <a:ext cx="124592" cy="365760"/>
          </a:xfrm>
          <a:prstGeom prst="rightArrow">
            <a:avLst/>
          </a:prstGeom>
          <a:solidFill>
            <a:srgbClr val="5C5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7246" y="1371600"/>
            <a:ext cx="2172614" cy="1371600"/>
          </a:xfrm>
          <a:prstGeom prst="rect">
            <a:avLst/>
          </a:prstGeom>
          <a:solidFill>
            <a:srgbClr val="2E3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PySpark</a:t>
            </a:r>
            <a:br/>
            <a:r>
              <a:t>read.json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schema</a:t>
            </a:r>
            <a:br/>
            <a:r>
              <a:t>explosé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9860" y="1874520"/>
            <a:ext cx="124592" cy="365760"/>
          </a:xfrm>
          <a:prstGeom prst="rightArrow">
            <a:avLst/>
          </a:prstGeom>
          <a:solidFill>
            <a:srgbClr val="5C5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94452" y="1371600"/>
            <a:ext cx="2172614" cy="1371600"/>
          </a:xfrm>
          <a:prstGeom prst="rect">
            <a:avLst/>
          </a:prstGeom>
          <a:solidFill>
            <a:srgbClr val="2E31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Cleaning</a:t>
            </a:r>
            <a:br/>
            <a:r>
              <a:t>+ FE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to_double</a:t>
            </a:r>
            <a:br/>
            <a:r>
              <a:t>has_path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87067" y="1874520"/>
            <a:ext cx="124592" cy="365760"/>
          </a:xfrm>
          <a:prstGeom prst="rightArrow">
            <a:avLst/>
          </a:prstGeom>
          <a:solidFill>
            <a:srgbClr val="5C5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31659" y="1371600"/>
            <a:ext cx="2172614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Agrégations</a:t>
            </a:r>
            <a:br/>
            <a:r>
              <a:t>SQL/DF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10 tables</a:t>
            </a:r>
            <a:br/>
            <a:r>
              <a:t>d'analyse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24273" y="1874520"/>
            <a:ext cx="124592" cy="365760"/>
          </a:xfrm>
          <a:prstGeom prst="rightArrow">
            <a:avLst/>
          </a:prstGeom>
          <a:solidFill>
            <a:srgbClr val="5C5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68865" y="1371600"/>
            <a:ext cx="2172614" cy="13716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Databricks</a:t>
            </a:r>
            <a:br/>
            <a:r>
              <a:t>Dashboard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display()</a:t>
            </a:r>
            <a:br/>
            <a:r>
              <a:t>+ viz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A1A2E"/>
                </a:solidFill>
              </a:defRPr>
            </a:pPr>
            <a:r>
              <a:rPr>
                <a:solidFill/>
              </a:rPr>
              <a:t>Stack technique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rPr>
                <a:solidFill/>
              </a:rPr>
              <a:t>PySpark 3.5 (Databricks community ou local[*])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rPr>
                <a:solidFill/>
              </a:rPr>
              <a:t>spark.read.json(multiLine) + printSchema -&gt; exploration nested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rPr>
                <a:solidFill/>
              </a:rPr>
              <a:t>Helpers : has_path / col_or_null (tolerance schema)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rPr>
                <a:solidFill/>
              </a:rPr>
              <a:t>explode() sur genres / langues + parsing dates LEGACY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rPr>
                <a:solidFill/>
              </a:rPr>
              <a:t>popularity_score = log1p(n_reviews) x positive_rate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A1A2E"/>
                </a:solidFill>
              </a:defRPr>
            </a:pPr>
            <a:r>
              <a:t>Pourquoi Spark ici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JSON nested volumineux → traitement out-of-core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Schema variable selon les jeux → besoin de tolérance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Parallélisme natif sur les explode (1 jeu → N genres)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Cluster gratuit Databricks community pour le bootcamp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En prod : cluster managé + Delta Lake en lieu et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75"/>
                </a:solidFill>
              </a:defRPr>
            </a:pPr>
            <a:r>
              <a:t>Aymeric Lahonde — CDSD Jedha 2026 — RNCP35288  ·  Bloc 2 Steam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B900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Chiffres clés du dataset</a:t>
            </a:r>
          </a:p>
          <a:p>
            <a:pPr>
              <a:defRPr sz="1300">
                <a:solidFill>
                  <a:srgbClr val="76B900"/>
                </a:solidFill>
              </a:defRPr>
            </a:pPr>
            <a:r>
              <a:t>Volume, qualité, profondeur des analyses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6576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4000" b="1">
                <a:solidFill>
                  <a:srgbClr val="76B900"/>
                </a:solidFill>
              </a:defRPr>
            </a:pPr>
            <a:r>
              <a:t>55 691</a:t>
            </a:r>
          </a:p>
          <a:p>
            <a:pPr algn="ctr">
              <a:defRPr sz="1500" b="1">
                <a:solidFill>
                  <a:srgbClr val="1A1A2E"/>
                </a:solidFill>
              </a:defRPr>
            </a:pPr>
            <a:r>
              <a:t>jeux Steam analysés</a:t>
            </a:r>
          </a:p>
          <a:p>
            <a:pPr algn="ctr">
              <a:spcBef>
                <a:spcPts val="800"/>
              </a:spcBef>
              <a:defRPr sz="1100">
                <a:solidFill>
                  <a:srgbClr val="5C5C75"/>
                </a:solidFill>
              </a:defRPr>
            </a:pPr>
            <a:r>
              <a:t>JSON nested</a:t>
            </a:r>
            <a:br/>
            <a:r>
              <a:t>schéma variable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371600"/>
            <a:ext cx="36576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4000" b="1">
                <a:solidFill>
                  <a:srgbClr val="76B900"/>
                </a:solidFill>
              </a:defRPr>
            </a:pPr>
            <a:r>
              <a:rPr>
                <a:solidFill/>
              </a:rPr>
              <a:t>10</a:t>
            </a:r>
          </a:p>
          <a:p>
            <a:pPr algn="ctr">
              <a:defRPr sz="1500" b="1">
                <a:solidFill>
                  <a:srgbClr val="1A1A2E"/>
                </a:solidFill>
              </a:defRPr>
            </a:pPr>
            <a:r>
              <a:rPr>
                <a:solidFill/>
              </a:rPr>
              <a:t>tables d'agregation</a:t>
            </a:r>
          </a:p>
          <a:p>
            <a:pPr algn="ctr">
              <a:spcBef>
                <a:spcPts val="800"/>
              </a:spcBef>
              <a:defRPr sz="1100">
                <a:solidFill>
                  <a:srgbClr val="5C5C75"/>
                </a:solidFill>
              </a:defRPr>
            </a:pPr>
            <a:r>
              <a:rPr>
                <a:solidFill/>
              </a:rPr>
              <a:t>publishers - genres_x000B_plateformes - prix</a:t>
            </a:r>
            <a:br/>
            <a: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371600"/>
            <a:ext cx="36576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4000" b="1">
                <a:solidFill>
                  <a:srgbClr val="76B900"/>
                </a:solidFill>
              </a:defRPr>
            </a:pPr>
            <a:r>
              <a:t>3</a:t>
            </a:r>
          </a:p>
          <a:p>
            <a:pPr algn="ctr">
              <a:defRPr sz="1500" b="1">
                <a:solidFill>
                  <a:srgbClr val="1A1A2E"/>
                </a:solidFill>
              </a:defRPr>
            </a:pPr>
            <a:r>
              <a:t>axes d'analyse</a:t>
            </a:r>
          </a:p>
          <a:p>
            <a:pPr algn="ctr">
              <a:spcBef>
                <a:spcPts val="800"/>
              </a:spcBef>
              <a:defRPr sz="1100">
                <a:solidFill>
                  <a:srgbClr val="5C5C75"/>
                </a:solidFill>
              </a:defRPr>
            </a:pPr>
            <a:r>
              <a:t>macro · genre</a:t>
            </a:r>
            <a:br/>
            <a: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2E"/>
                </a:solidFill>
              </a:defRPr>
            </a:pPr>
            <a:r>
              <a:rPr>
                <a:solidFill/>
              </a:rPr>
              <a:t>Tables produites pour le dashboard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publisher_most_games  -  releases_by_year  -  top_languages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price_bucket_vs_success  -  platforms_vs_success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top_genres  -  genre_performance (nb_games &gt;= 200)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platform_share  -  price_stats  (+ table games)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75"/>
                </a:solidFill>
              </a:defRPr>
            </a:pPr>
            <a:r>
              <a:t>Aymeric Lahonde — CDSD Jedha 2026 — RNCP35288  ·  Bloc 2 Steam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B900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Insights métier — résultats des 3 axes</a:t>
            </a:r>
          </a:p>
          <a:p>
            <a:pPr>
              <a:defRPr sz="1300">
                <a:solidFill>
                  <a:srgbClr val="76B900"/>
                </a:solidFill>
              </a:defRPr>
            </a:pPr>
            <a:r>
              <a:t>Macro · Genre ·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4846320"/>
          </a:xfrm>
          <a:prstGeom prst="rect">
            <a:avLst/>
          </a:prstGeom>
          <a:solidFill>
            <a:srgbClr val="FFFFFF"/>
          </a:solidFill>
          <a:ln w="2286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2000" b="1">
                <a:solidFill>
                  <a:srgbClr val="76B900"/>
                </a:solidFill>
              </a:defRPr>
            </a:pPr>
            <a:r>
              <a:rPr>
                <a:solidFill/>
              </a:rPr>
              <a:t>Macro &amp; genres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55 691 jeux analyses ; longue traine d'editeurs (top : Big Fish Games 422)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Explosion des sorties des 2014 : pic a 8 805 jeux en 2021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Genres volume : Indie 39,7k - Action 23,8k - Casual 22,1k - Adventure 21,4k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Prix median 4,99 EUR ; 14% des jeux gratuits ; prix moyen payant 8,99 EUR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Langues : Anglais 55k &gt; Allemand 14k &gt; Francais 13,4k &gt; Russe 12,9k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280160"/>
            <a:ext cx="5486400" cy="4846320"/>
          </a:xfrm>
          <a:prstGeom prst="rect">
            <a:avLst/>
          </a:prstGeom>
          <a:solidFill>
            <a:srgbClr val="FFFFFF"/>
          </a:solidFill>
          <a:ln w="228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rPr>
                <a:solidFill/>
              </a:rPr>
              <a:t>Plateformes &amp; succes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Windows 100% (55 676) - Mac 22,9% - Linux 15,2%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Multi-plateforme fortement lie au succes :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   taux de hits 6,9% (1 OS) -&gt; 11,5% (2) -&gt; 17,9% (3 OS)</a:t>
            </a:r>
          </a:p>
          <a:p>
            <a:pPr>
              <a:spcBef>
                <a:spcPts val="300"/>
              </a:spcBef>
              <a:defRPr sz="1300">
                <a:solidFill>
                  <a:srgbClr val="5C5C75"/>
                </a:solidFill>
              </a:defRPr>
            </a:pPr>
            <a:r>
              <a:rPr>
                <a:solidFill/>
              </a:rPr>
              <a:t>Prix aussi : hits 3,5% (&lt;5 EUR) -&gt; 29,8% (20-40 EUR)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rPr>
                <a:solidFill/>
              </a:rPr>
              <a:t>Modele : reg. logistique AUC 0,72, nb_platforms = 1er facteur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75"/>
                </a:solidFill>
              </a:defRPr>
            </a:pPr>
            <a:r>
              <a:t>Aymeric Lahonde — CDSD Jedha 2026 — RNCP35288  ·  Bloc 2 Steam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B900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Stack technique &amp; dashboard</a:t>
            </a:r>
          </a:p>
          <a:p>
            <a:pPr>
              <a:defRPr sz="1300">
                <a:solidFill>
                  <a:srgbClr val="76B900"/>
                </a:solidFill>
              </a:defRPr>
            </a:pPr>
            <a:r>
              <a:t>Databricks community  ·  PySpark  ·  display()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4846320"/>
          </a:xfrm>
          <a:prstGeom prst="rect">
            <a:avLst/>
          </a:prstGeom>
          <a:solidFill>
            <a:srgbClr val="FFFFFF"/>
          </a:solidFill>
          <a:ln w="2286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2000" b="1">
                <a:solidFill>
                  <a:srgbClr val="76B900"/>
                </a:solidFill>
              </a:defRPr>
            </a:pPr>
            <a:r>
              <a:t>Notebooks livrés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•  01_steam_eda.ipynb</a:t>
            </a:r>
          </a:p>
          <a:p>
            <a:pPr>
              <a:spcBef>
                <a:spcPts val="300"/>
              </a:spcBef>
              <a:defRPr sz="1300">
                <a:solidFill>
                  <a:srgbClr val="5C5C75"/>
                </a:solidFill>
              </a:defRPr>
            </a:pPr>
            <a:r>
              <a:t>      → cleaning + feature engineering + agrégations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•  02_steam_stat_models.ipynb</a:t>
            </a:r>
          </a:p>
          <a:p>
            <a:pPr>
              <a:spcBef>
                <a:spcPts val="300"/>
              </a:spcBef>
              <a:defRPr sz="1300">
                <a:solidFill>
                  <a:srgbClr val="5C5C75"/>
                </a:solidFill>
              </a:defRPr>
            </a:pPr>
            <a:r>
              <a:t>      → analyses statistiques complémentaires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•  Dashboard Databricks importable :</a:t>
            </a:r>
          </a:p>
          <a:p>
            <a:pPr>
              <a:spcBef>
                <a:spcPts val="300"/>
              </a:spcBef>
              <a:defRPr sz="1300">
                <a:solidFill>
                  <a:srgbClr val="5C5C75"/>
                </a:solidFill>
              </a:defRPr>
            </a:pPr>
            <a:r>
              <a:t>      STEAM_Project_Dashboard.lvdash.json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280160"/>
            <a:ext cx="5486400" cy="4846320"/>
          </a:xfrm>
          <a:prstGeom prst="rect">
            <a:avLst/>
          </a:prstGeom>
          <a:solidFill>
            <a:srgbClr val="FFFFFF"/>
          </a:solidFill>
          <a:ln w="2286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Limites &amp; Q&amp;A probable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•  Cluster community = ressources limitées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•  Schéma JSON variable → has_path() obligatoire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•  Pas de déploiement scheduled (POC)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•  Pas d'historisation : on travaille sur snapshot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•  ROI prouvé : extension à Epic/GOG facile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75"/>
                </a:solidFill>
              </a:defRPr>
            </a:pPr>
            <a:r>
              <a:t>Aymeric Lahonde — CDSD Jedha 2026 — RNCP35288  ·  Bloc 2 Steam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B900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Conclusion &amp; perspectives</a:t>
            </a:r>
          </a:p>
          <a:p>
            <a:pPr>
              <a:defRPr sz="1300">
                <a:solidFill>
                  <a:srgbClr val="76B900"/>
                </a:solidFill>
              </a:defRPr>
            </a:pPr>
            <a:r>
              <a:t>Ce que ce projet apporte au Bloc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76B900"/>
                </a:solidFill>
              </a:defRPr>
            </a:pPr>
            <a:r>
              <a:t>Acquis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rPr>
                <a:solidFill/>
              </a:rPr>
              <a:t>✓  Lecture JSON nested en PySpark (printSchema, explode)</a:t>
            </a:r>
          </a:p>
          <a:p>
            <a:pPr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rPr>
                <a:solidFill/>
              </a:rPr>
              <a:t>✓  Helpers de tolerance schema (has_path / col_or_null)</a:t>
            </a:r>
          </a:p>
          <a:p>
            <a:pPr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rPr>
                <a:solidFill/>
              </a:rPr>
              <a:t>✓  Cleaning : prix en centimes -&gt; euros, dates LEGACY</a:t>
            </a:r>
          </a:p>
          <a:p>
            <a:pPr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rPr>
                <a:solidFill/>
              </a:rPr>
              <a:t>✓  Feature engineering : popularity_score, success_high</a:t>
            </a:r>
          </a:p>
          <a:p>
            <a:pPr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rPr>
                <a:solidFill/>
              </a:rPr>
              <a:t>✓  10 tables d'agregation + 6 CSV versionnes + 7 graphiques</a:t>
            </a:r>
          </a:p>
          <a:p>
            <a:pPr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rPr>
                <a:solidFill/>
              </a:rPr>
              <a:t>✓  Modeles : baseline regle + reg. logistique MLlib (AUC 0,72)</a:t>
            </a:r>
          </a:p>
          <a:p>
            <a:pPr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rPr>
                <a:solidFill/>
              </a:rPr>
              <a:t>✓  Insights sur 3 axes (macro / genre / platform)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A1A2E"/>
                </a:solidFill>
              </a:defRPr>
            </a:pPr>
            <a:r>
              <a:t>Pour aller en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t>→  Cluster managé Databricks au lieu de community</a:t>
            </a:r>
          </a:p>
          <a:p>
            <a:pPr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t>→  Delta Lake pour historisation + ACID</a:t>
            </a:r>
          </a:p>
          <a:p>
            <a:pPr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t>→  Scheduling quotidien (Databricks Jobs)</a:t>
            </a:r>
          </a:p>
          <a:p>
            <a:pPr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t>→  Tests unitaires sur les UDF de cleaning</a:t>
            </a:r>
          </a:p>
          <a:p>
            <a:pPr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t>→  Monitoring qualité : data tests sur n_reviews</a:t>
            </a:r>
          </a:p>
          <a:p>
            <a:pPr>
              <a:spcBef>
                <a:spcPts val="500"/>
              </a:spcBef>
              <a:defRPr sz="1300">
                <a:solidFill>
                  <a:srgbClr val="1A1A2E"/>
                </a:solidFill>
              </a:defRPr>
            </a:pPr>
            <a:r>
              <a:t>→  Élargir : Epic Games Store, GOG, Itch.io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6B900"/>
                </a:solidFill>
              </a:defRPr>
            </a:pPr>
            <a:r>
              <a:t>Merci pour votre attention  —  questions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75"/>
                </a:solidFill>
              </a:defRPr>
            </a:pPr>
            <a:r>
              <a:t>Aymeric Lahonde — CDSD Jedha 2026 — RNCP35288  ·  Bloc 2 Steam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B900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🔗 Liens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B8C4D4"/>
                </a:solidFill>
              </a:rPr>
              <a:t>Code (GitHub) : </a:t>
            </a:r>
            <a:r>
              <a:rPr sz="1800">
                <a:solidFill>
                  <a:srgbClr val="6CB6FF"/>
                </a:solidFill>
                <a:hlinkClick r:id="rId2"/>
              </a:rPr>
              <a:t>https://github.com/aymericlahonde-dotcom/cdsd-b2-steam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B8C4D4"/>
                </a:solidFill>
              </a:rPr>
              <a:t>Dataset (S3 / Databricks) : </a:t>
            </a:r>
            <a:r>
              <a:rPr sz="1800">
                <a:solidFill>
                  <a:srgbClr val="E8C46C"/>
                </a:solidFill>
              </a:rPr>
              <a:t>s3://full-stack-bigdata-datasets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Resultats visuels (1/2) - marche &amp; catalogue</a:t>
            </a:r>
          </a:p>
        </p:txBody>
      </p:sp>
      <p:pic>
        <p:nvPicPr>
          <p:cNvPr id="3" name="Picture 2" descr="01_top_publish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807442" cy="2651760"/>
          </a:xfrm>
          <a:prstGeom prst="rect">
            <a:avLst/>
          </a:prstGeom>
        </p:spPr>
      </p:pic>
      <p:pic>
        <p:nvPicPr>
          <p:cNvPr id="4" name="Picture 3" descr="02_releases_by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4820972" cy="2651760"/>
          </a:xfrm>
          <a:prstGeom prst="rect">
            <a:avLst/>
          </a:prstGeom>
        </p:spPr>
      </p:pic>
      <p:pic>
        <p:nvPicPr>
          <p:cNvPr id="5" name="Picture 4" descr="03_top_gen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4811952" cy="2651760"/>
          </a:xfrm>
          <a:prstGeom prst="rect">
            <a:avLst/>
          </a:prstGeom>
        </p:spPr>
      </p:pic>
      <p:pic>
        <p:nvPicPr>
          <p:cNvPr id="6" name="Picture 5" descr="04_price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840480"/>
            <a:ext cx="4820972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Resultats visuels (2/2) - plateformes &amp; succes</a:t>
            </a:r>
          </a:p>
        </p:txBody>
      </p:sp>
      <p:pic>
        <p:nvPicPr>
          <p:cNvPr id="3" name="Picture 2" descr="05_platform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2557859" cy="2651760"/>
          </a:xfrm>
          <a:prstGeom prst="rect">
            <a:avLst/>
          </a:prstGeom>
        </p:spPr>
      </p:pic>
      <p:pic>
        <p:nvPicPr>
          <p:cNvPr id="4" name="Picture 3" descr="07_success_by_platfo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05840"/>
            <a:ext cx="4279796" cy="2651760"/>
          </a:xfrm>
          <a:prstGeom prst="rect">
            <a:avLst/>
          </a:prstGeom>
        </p:spPr>
      </p:pic>
      <p:pic>
        <p:nvPicPr>
          <p:cNvPr id="5" name="Picture 4" descr="06_success_by_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4829185" cy="2651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